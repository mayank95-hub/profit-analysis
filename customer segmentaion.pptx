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33144" y="1478737"/>
            <a:ext cx="6077711" cy="2708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08809" y="4314938"/>
            <a:ext cx="5326380" cy="1196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6582" y="129362"/>
            <a:ext cx="7850835" cy="1366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244" y="1609420"/>
            <a:ext cx="8056245" cy="3732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299720" marR="292100">
              <a:lnSpc>
                <a:spcPct val="100000"/>
              </a:lnSpc>
              <a:spcBef>
                <a:spcPts val="95"/>
              </a:spcBef>
            </a:pPr>
            <a:r>
              <a:rPr dirty="0"/>
              <a:t>Customer</a:t>
            </a:r>
            <a:r>
              <a:rPr dirty="0" spc="-240"/>
              <a:t> </a:t>
            </a:r>
            <a:r>
              <a:rPr dirty="0" spc="-10"/>
              <a:t>Segmentation Dashboard</a:t>
            </a:r>
          </a:p>
          <a:p>
            <a:pPr algn="ctr" marL="12700" marR="5080">
              <a:lnSpc>
                <a:spcPct val="100000"/>
              </a:lnSpc>
            </a:pPr>
            <a:r>
              <a:rPr dirty="0" spc="-20"/>
              <a:t>Behavioral</a:t>
            </a:r>
            <a:r>
              <a:rPr dirty="0" spc="-85"/>
              <a:t> </a:t>
            </a:r>
            <a:r>
              <a:rPr dirty="0"/>
              <a:t>&amp;</a:t>
            </a:r>
            <a:r>
              <a:rPr dirty="0" spc="-80"/>
              <a:t> </a:t>
            </a:r>
            <a:r>
              <a:rPr dirty="0" spc="-10"/>
              <a:t>Demographic Insights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240" marR="5080" indent="-3175">
              <a:lnSpc>
                <a:spcPct val="120100"/>
              </a:lnSpc>
              <a:spcBef>
                <a:spcPts val="100"/>
              </a:spcBef>
            </a:pPr>
            <a:r>
              <a:rPr dirty="0">
                <a:solidFill>
                  <a:srgbClr val="888888"/>
                </a:solidFill>
              </a:rPr>
              <a:t>Detailed</a:t>
            </a:r>
            <a:r>
              <a:rPr dirty="0" spc="-155">
                <a:solidFill>
                  <a:srgbClr val="888888"/>
                </a:solidFill>
              </a:rPr>
              <a:t> </a:t>
            </a:r>
            <a:r>
              <a:rPr dirty="0">
                <a:solidFill>
                  <a:srgbClr val="888888"/>
                </a:solidFill>
              </a:rPr>
              <a:t>Dashboard</a:t>
            </a:r>
            <a:r>
              <a:rPr dirty="0" spc="-120">
                <a:solidFill>
                  <a:srgbClr val="888888"/>
                </a:solidFill>
              </a:rPr>
              <a:t> </a:t>
            </a:r>
            <a:r>
              <a:rPr dirty="0" spc="-10">
                <a:solidFill>
                  <a:srgbClr val="888888"/>
                </a:solidFill>
              </a:rPr>
              <a:t>Explanation Presented</a:t>
            </a:r>
            <a:r>
              <a:rPr dirty="0" spc="-114">
                <a:solidFill>
                  <a:srgbClr val="888888"/>
                </a:solidFill>
              </a:rPr>
              <a:t> </a:t>
            </a:r>
            <a:r>
              <a:rPr dirty="0">
                <a:solidFill>
                  <a:srgbClr val="888888"/>
                </a:solidFill>
              </a:rPr>
              <a:t>by</a:t>
            </a:r>
            <a:r>
              <a:rPr dirty="0" spc="-114">
                <a:solidFill>
                  <a:srgbClr val="888888"/>
                </a:solidFill>
              </a:rPr>
              <a:t> </a:t>
            </a:r>
            <a:r>
              <a:rPr dirty="0">
                <a:solidFill>
                  <a:srgbClr val="888888"/>
                </a:solidFill>
              </a:rPr>
              <a:t>Mayank</a:t>
            </a:r>
            <a:r>
              <a:rPr dirty="0" spc="-125">
                <a:solidFill>
                  <a:srgbClr val="888888"/>
                </a:solidFill>
              </a:rPr>
              <a:t> </a:t>
            </a:r>
            <a:r>
              <a:rPr dirty="0" spc="-10">
                <a:solidFill>
                  <a:srgbClr val="888888"/>
                </a:solidFill>
              </a:rPr>
              <a:t>Gondaliya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7268" rIns="0" bIns="0" rtlCol="0" vert="horz">
            <a:spAutoFit/>
          </a:bodyPr>
          <a:lstStyle/>
          <a:p>
            <a:pPr marL="393700">
              <a:lnSpc>
                <a:spcPct val="100000"/>
              </a:lnSpc>
              <a:spcBef>
                <a:spcPts val="90"/>
              </a:spcBef>
            </a:pPr>
            <a:r>
              <a:rPr dirty="0"/>
              <a:t>Complete</a:t>
            </a:r>
            <a:r>
              <a:rPr dirty="0" spc="-215"/>
              <a:t> </a:t>
            </a:r>
            <a:r>
              <a:rPr dirty="0"/>
              <a:t>Dashboard</a:t>
            </a:r>
            <a:r>
              <a:rPr dirty="0" spc="-215"/>
              <a:t> </a:t>
            </a:r>
            <a:r>
              <a:rPr dirty="0" spc="-1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371600"/>
            <a:ext cx="8229600" cy="46360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7268" rIns="0" bIns="0" rtlCol="0" vert="horz">
            <a:spAutoFit/>
          </a:bodyPr>
          <a:lstStyle/>
          <a:p>
            <a:pPr marL="116205">
              <a:lnSpc>
                <a:spcPct val="100000"/>
              </a:lnSpc>
              <a:spcBef>
                <a:spcPts val="90"/>
              </a:spcBef>
            </a:pPr>
            <a:r>
              <a:rPr dirty="0"/>
              <a:t>Key</a:t>
            </a:r>
            <a:r>
              <a:rPr dirty="0" spc="-190"/>
              <a:t> </a:t>
            </a:r>
            <a:r>
              <a:rPr dirty="0" spc="-20"/>
              <a:t>Performance</a:t>
            </a:r>
            <a:r>
              <a:rPr dirty="0" spc="-145"/>
              <a:t> </a:t>
            </a:r>
            <a:r>
              <a:rPr dirty="0" spc="-20"/>
              <a:t>Indicators</a:t>
            </a:r>
            <a:r>
              <a:rPr dirty="0" spc="-125"/>
              <a:t> </a:t>
            </a:r>
            <a:r>
              <a:rPr dirty="0" spc="-10"/>
              <a:t>(KPIs)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244" y="1510650"/>
            <a:ext cx="7524115" cy="451485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•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Average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Age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Customers: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41.20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years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•</a:t>
            </a:r>
            <a:r>
              <a:rPr dirty="0" sz="3200" spc="-1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Average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Purchase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Amount: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$255.48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•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55">
                <a:latin typeface="Calibri"/>
                <a:cs typeface="Calibri"/>
              </a:rPr>
              <a:t>Total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Customers: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3,900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•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Discount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Applied: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48.64%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5"/>
              </a:spcBef>
              <a:buFont typeface="Arial"/>
              <a:buChar char="•"/>
            </a:pPr>
            <a:endParaRPr sz="32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These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KPIs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provide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high-</a:t>
            </a:r>
            <a:r>
              <a:rPr dirty="0" sz="3200">
                <a:latin typeface="Calibri"/>
                <a:cs typeface="Calibri"/>
              </a:rPr>
              <a:t>level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summary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of </a:t>
            </a:r>
            <a:r>
              <a:rPr dirty="0" sz="3200">
                <a:latin typeface="Calibri"/>
                <a:cs typeface="Calibri"/>
              </a:rPr>
              <a:t>customer</a:t>
            </a:r>
            <a:r>
              <a:rPr dirty="0" sz="3200" spc="-1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demographics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13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purchasing behavior.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152775" marR="5080" indent="-2668270">
              <a:lnSpc>
                <a:spcPct val="100000"/>
              </a:lnSpc>
              <a:spcBef>
                <a:spcPts val="95"/>
              </a:spcBef>
            </a:pPr>
            <a:r>
              <a:rPr dirty="0"/>
              <a:t>Seasonal</a:t>
            </a:r>
            <a:r>
              <a:rPr dirty="0" spc="-165"/>
              <a:t> </a:t>
            </a:r>
            <a:r>
              <a:rPr dirty="0"/>
              <a:t>Purchase</a:t>
            </a:r>
            <a:r>
              <a:rPr dirty="0" spc="-155"/>
              <a:t> </a:t>
            </a:r>
            <a:r>
              <a:rPr dirty="0" spc="-25"/>
              <a:t>Patterns</a:t>
            </a:r>
            <a:r>
              <a:rPr dirty="0" spc="-160"/>
              <a:t> </a:t>
            </a:r>
            <a:r>
              <a:rPr dirty="0" spc="-35"/>
              <a:t>by </a:t>
            </a:r>
            <a:r>
              <a:rPr dirty="0" spc="-10"/>
              <a:t>Region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244" y="1609420"/>
            <a:ext cx="8047990" cy="4806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6870" marR="410845" indent="-34480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This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stacked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bar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chart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shows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how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purchases </a:t>
            </a:r>
            <a:r>
              <a:rPr dirty="0" sz="3200">
                <a:latin typeface="Calibri"/>
                <a:cs typeface="Calibri"/>
              </a:rPr>
              <a:t>vary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across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seasons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regions.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5"/>
              </a:spcBef>
              <a:buFont typeface="Arial"/>
              <a:buChar char="•"/>
            </a:pPr>
            <a:endParaRPr sz="3200">
              <a:latin typeface="Calibri"/>
              <a:cs typeface="Calibri"/>
            </a:endParaRPr>
          </a:p>
          <a:p>
            <a:pPr marL="356870" marR="1172845" indent="-344805">
              <a:lnSpc>
                <a:spcPct val="100000"/>
              </a:lnSpc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•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Fall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Winter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show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higher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purchase volumes.</a:t>
            </a:r>
            <a:endParaRPr sz="3200">
              <a:latin typeface="Calibri"/>
              <a:cs typeface="Calibri"/>
            </a:endParaRPr>
          </a:p>
          <a:p>
            <a:pPr marL="356870" marR="506730" indent="-34480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•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Chicago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New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35">
                <a:latin typeface="Calibri"/>
                <a:cs typeface="Calibri"/>
              </a:rPr>
              <a:t>York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contribute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strongly </a:t>
            </a:r>
            <a:r>
              <a:rPr dirty="0" sz="3200">
                <a:latin typeface="Calibri"/>
                <a:cs typeface="Calibri"/>
              </a:rPr>
              <a:t>across</a:t>
            </a:r>
            <a:r>
              <a:rPr dirty="0" sz="3200" spc="-14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seasons.</a:t>
            </a:r>
            <a:endParaRPr sz="32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•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Helps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plan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seasonal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marketing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inventory strategies.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923540" marR="5080" indent="-1985010">
              <a:lnSpc>
                <a:spcPct val="100000"/>
              </a:lnSpc>
              <a:spcBef>
                <a:spcPts val="95"/>
              </a:spcBef>
            </a:pPr>
            <a:r>
              <a:rPr dirty="0"/>
              <a:t>Customer</a:t>
            </a:r>
            <a:r>
              <a:rPr dirty="0" spc="-125"/>
              <a:t> </a:t>
            </a:r>
            <a:r>
              <a:rPr dirty="0"/>
              <a:t>Age</a:t>
            </a:r>
            <a:r>
              <a:rPr dirty="0" spc="-125"/>
              <a:t> </a:t>
            </a:r>
            <a:r>
              <a:rPr dirty="0"/>
              <a:t>vs</a:t>
            </a:r>
            <a:r>
              <a:rPr dirty="0" spc="-150"/>
              <a:t> </a:t>
            </a:r>
            <a:r>
              <a:rPr dirty="0" spc="-10"/>
              <a:t>Purchase Behavior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244" y="1609420"/>
            <a:ext cx="8002905" cy="37325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This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line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chart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analyzes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how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spending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changes </a:t>
            </a:r>
            <a:r>
              <a:rPr dirty="0" sz="3200">
                <a:latin typeface="Calibri"/>
                <a:cs typeface="Calibri"/>
              </a:rPr>
              <a:t>with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age.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5"/>
              </a:spcBef>
              <a:buFont typeface="Arial"/>
              <a:buChar char="•"/>
            </a:pPr>
            <a:endParaRPr sz="3200">
              <a:latin typeface="Calibri"/>
              <a:cs typeface="Calibri"/>
            </a:endParaRPr>
          </a:p>
          <a:p>
            <a:pPr marL="356870" marR="159385" indent="-344805">
              <a:lnSpc>
                <a:spcPct val="100000"/>
              </a:lnSpc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•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Middle-</a:t>
            </a:r>
            <a:r>
              <a:rPr dirty="0" sz="3200">
                <a:latin typeface="Calibri"/>
                <a:cs typeface="Calibri"/>
              </a:rPr>
              <a:t>aged</a:t>
            </a:r>
            <a:r>
              <a:rPr dirty="0" sz="3200" spc="-12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customers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(30–55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years)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show </a:t>
            </a:r>
            <a:r>
              <a:rPr dirty="0" sz="3200">
                <a:latin typeface="Calibri"/>
                <a:cs typeface="Calibri"/>
              </a:rPr>
              <a:t>higher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spending.</a:t>
            </a:r>
            <a:endParaRPr sz="3200">
              <a:latin typeface="Calibri"/>
              <a:cs typeface="Calibri"/>
            </a:endParaRPr>
          </a:p>
          <a:p>
            <a:pPr marL="356870" marR="35560" indent="-34480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•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Indicates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ideal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age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group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for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premium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offers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loyalty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programs.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722245" marR="5080" indent="-179895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Geographic</a:t>
            </a:r>
            <a:r>
              <a:rPr dirty="0" spc="-140"/>
              <a:t> </a:t>
            </a:r>
            <a:r>
              <a:rPr dirty="0" spc="-10"/>
              <a:t>Distribution</a:t>
            </a:r>
            <a:r>
              <a:rPr dirty="0" spc="-150"/>
              <a:t> </a:t>
            </a:r>
            <a:r>
              <a:rPr dirty="0" spc="-25"/>
              <a:t>of </a:t>
            </a:r>
            <a:r>
              <a:rPr dirty="0" spc="-10"/>
              <a:t>Customers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244" y="1609420"/>
            <a:ext cx="7673340" cy="37325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6870" marR="1228090" indent="-34480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map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visual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displays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customer concentration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across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major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US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cities.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5"/>
              </a:spcBef>
              <a:buFont typeface="Arial"/>
              <a:buChar char="•"/>
            </a:pPr>
            <a:endParaRPr sz="32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•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Strong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presence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in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New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 spc="-30">
                <a:latin typeface="Calibri"/>
                <a:cs typeface="Calibri"/>
              </a:rPr>
              <a:t>York,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Chicago,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and </a:t>
            </a:r>
            <a:r>
              <a:rPr dirty="0" sz="3200">
                <a:latin typeface="Calibri"/>
                <a:cs typeface="Calibri"/>
              </a:rPr>
              <a:t>Los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Angeles.</a:t>
            </a:r>
            <a:endParaRPr sz="3200">
              <a:latin typeface="Calibri"/>
              <a:cs typeface="Calibri"/>
            </a:endParaRPr>
          </a:p>
          <a:p>
            <a:pPr marL="356870" marR="24765" indent="-34480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•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Useful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for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regional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sales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planning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city- focused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campaigns.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27810" marR="5080" indent="-1021715">
              <a:lnSpc>
                <a:spcPct val="100000"/>
              </a:lnSpc>
              <a:spcBef>
                <a:spcPts val="95"/>
              </a:spcBef>
            </a:pPr>
            <a:r>
              <a:rPr dirty="0" spc="-35"/>
              <a:t>Category-</a:t>
            </a:r>
            <a:r>
              <a:rPr dirty="0"/>
              <a:t>wise</a:t>
            </a:r>
            <a:r>
              <a:rPr dirty="0" spc="-75"/>
              <a:t> </a:t>
            </a:r>
            <a:r>
              <a:rPr dirty="0" spc="-10"/>
              <a:t>Contribution</a:t>
            </a:r>
            <a:r>
              <a:rPr dirty="0" spc="-60"/>
              <a:t> </a:t>
            </a:r>
            <a:r>
              <a:rPr dirty="0" spc="-25"/>
              <a:t>to </a:t>
            </a:r>
            <a:r>
              <a:rPr dirty="0" spc="-10"/>
              <a:t>Revenue</a:t>
            </a:r>
            <a:r>
              <a:rPr dirty="0" spc="-120"/>
              <a:t> </a:t>
            </a:r>
            <a:r>
              <a:rPr dirty="0"/>
              <a:t>&amp;</a:t>
            </a:r>
            <a:r>
              <a:rPr dirty="0" spc="-125"/>
              <a:t> </a:t>
            </a:r>
            <a:r>
              <a:rPr dirty="0" spc="-10"/>
              <a:t>Discounts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244" y="1609420"/>
            <a:ext cx="7214870" cy="37325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6870" marR="198120" indent="-34480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donut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chart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represents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revenue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and </a:t>
            </a:r>
            <a:r>
              <a:rPr dirty="0" sz="3200">
                <a:latin typeface="Calibri"/>
                <a:cs typeface="Calibri"/>
              </a:rPr>
              <a:t>discount</a:t>
            </a:r>
            <a:r>
              <a:rPr dirty="0" sz="3200" spc="-1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contribution</a:t>
            </a:r>
            <a:r>
              <a:rPr dirty="0" sz="3200" spc="-1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by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category.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5"/>
              </a:spcBef>
              <a:buFont typeface="Arial"/>
              <a:buChar char="•"/>
            </a:pPr>
            <a:endParaRPr sz="32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•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Accessories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Clothing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contribute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the </a:t>
            </a:r>
            <a:r>
              <a:rPr dirty="0" sz="3200">
                <a:latin typeface="Calibri"/>
                <a:cs typeface="Calibri"/>
              </a:rPr>
              <a:t>highest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revenue.</a:t>
            </a:r>
            <a:endParaRPr sz="3200">
              <a:latin typeface="Calibri"/>
              <a:cs typeface="Calibri"/>
            </a:endParaRPr>
          </a:p>
          <a:p>
            <a:pPr marL="356870" marR="412750" indent="-34480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•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Balanced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discount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distribution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across categories.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960245" marR="5080" indent="-1534160">
              <a:lnSpc>
                <a:spcPct val="100000"/>
              </a:lnSpc>
              <a:spcBef>
                <a:spcPts val="95"/>
              </a:spcBef>
            </a:pPr>
            <a:r>
              <a:rPr dirty="0"/>
              <a:t>Purchase</a:t>
            </a:r>
            <a:r>
              <a:rPr dirty="0" spc="-145"/>
              <a:t> </a:t>
            </a:r>
            <a:r>
              <a:rPr dirty="0"/>
              <a:t>&amp;</a:t>
            </a:r>
            <a:r>
              <a:rPr dirty="0" spc="-165"/>
              <a:t> </a:t>
            </a:r>
            <a:r>
              <a:rPr dirty="0"/>
              <a:t>Discount</a:t>
            </a:r>
            <a:r>
              <a:rPr dirty="0" spc="-135"/>
              <a:t> </a:t>
            </a:r>
            <a:r>
              <a:rPr dirty="0" spc="-40"/>
              <a:t>Trends</a:t>
            </a:r>
            <a:r>
              <a:rPr dirty="0" spc="-165"/>
              <a:t> </a:t>
            </a:r>
            <a:r>
              <a:rPr dirty="0" spc="-25"/>
              <a:t>by </a:t>
            </a:r>
            <a:r>
              <a:rPr dirty="0"/>
              <a:t>Product</a:t>
            </a:r>
            <a:r>
              <a:rPr dirty="0" spc="-185"/>
              <a:t> </a:t>
            </a:r>
            <a:r>
              <a:rPr dirty="0" spc="-10"/>
              <a:t>Category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244" y="1609420"/>
            <a:ext cx="7720330" cy="37325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6870" marR="416559" indent="-34480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This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bar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chart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compares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average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purchase </a:t>
            </a:r>
            <a:r>
              <a:rPr dirty="0" sz="3200">
                <a:latin typeface="Calibri"/>
                <a:cs typeface="Calibri"/>
              </a:rPr>
              <a:t>amount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total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discounts.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5"/>
              </a:spcBef>
              <a:buFont typeface="Arial"/>
              <a:buChar char="•"/>
            </a:pPr>
            <a:endParaRPr sz="3200">
              <a:latin typeface="Calibri"/>
              <a:cs typeface="Calibri"/>
            </a:endParaRPr>
          </a:p>
          <a:p>
            <a:pPr marL="356870" marR="878205" indent="-344805">
              <a:lnSpc>
                <a:spcPct val="100000"/>
              </a:lnSpc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•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Electronics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Accessories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have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high </a:t>
            </a:r>
            <a:r>
              <a:rPr dirty="0" sz="3200">
                <a:latin typeface="Calibri"/>
                <a:cs typeface="Calibri"/>
              </a:rPr>
              <a:t>purchase</a:t>
            </a:r>
            <a:r>
              <a:rPr dirty="0" sz="3200" spc="-14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values.</a:t>
            </a:r>
            <a:endParaRPr sz="32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•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Sports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category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shows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moderate</a:t>
            </a:r>
            <a:r>
              <a:rPr dirty="0" sz="3200" spc="-114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discounts </a:t>
            </a:r>
            <a:r>
              <a:rPr dirty="0" sz="3200">
                <a:latin typeface="Calibri"/>
                <a:cs typeface="Calibri"/>
              </a:rPr>
              <a:t>with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stable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revenue.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19960" marR="5080" indent="-2207895">
              <a:lnSpc>
                <a:spcPct val="100000"/>
              </a:lnSpc>
              <a:spcBef>
                <a:spcPts val="95"/>
              </a:spcBef>
            </a:pPr>
            <a:r>
              <a:rPr dirty="0"/>
              <a:t>Customer</a:t>
            </a:r>
            <a:r>
              <a:rPr dirty="0" spc="-195"/>
              <a:t> </a:t>
            </a:r>
            <a:r>
              <a:rPr dirty="0" spc="-20"/>
              <a:t>Segmentation:</a:t>
            </a:r>
            <a:r>
              <a:rPr dirty="0" spc="-165"/>
              <a:t> </a:t>
            </a:r>
            <a:r>
              <a:rPr dirty="0" spc="-10"/>
              <a:t>Purchase </a:t>
            </a:r>
            <a:r>
              <a:rPr dirty="0"/>
              <a:t>Amount</a:t>
            </a:r>
            <a:r>
              <a:rPr dirty="0" spc="-90"/>
              <a:t> </a:t>
            </a:r>
            <a:r>
              <a:rPr dirty="0"/>
              <a:t>vs</a:t>
            </a:r>
            <a:r>
              <a:rPr dirty="0" spc="-135"/>
              <a:t> </a:t>
            </a:r>
            <a:r>
              <a:rPr dirty="0" spc="-25"/>
              <a:t>Age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6244" y="1609420"/>
            <a:ext cx="7668259" cy="3244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scatter</a:t>
            </a:r>
            <a:r>
              <a:rPr dirty="0" sz="3200" spc="-1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plot</a:t>
            </a:r>
            <a:r>
              <a:rPr dirty="0" sz="3200" spc="-1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identifies</a:t>
            </a:r>
            <a:r>
              <a:rPr dirty="0" sz="3200" spc="-1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customer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clusters.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0"/>
              </a:spcBef>
              <a:buFont typeface="Arial"/>
              <a:buChar char="•"/>
            </a:pPr>
            <a:endParaRPr sz="3200">
              <a:latin typeface="Calibri"/>
              <a:cs typeface="Calibri"/>
            </a:endParaRPr>
          </a:p>
          <a:p>
            <a:pPr marL="356870" marR="76200" indent="-34480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•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High-</a:t>
            </a:r>
            <a:r>
              <a:rPr dirty="0" sz="3200">
                <a:latin typeface="Calibri"/>
                <a:cs typeface="Calibri"/>
              </a:rPr>
              <a:t>value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customers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are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mainly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between </a:t>
            </a:r>
            <a:r>
              <a:rPr dirty="0" sz="3200">
                <a:latin typeface="Calibri"/>
                <a:cs typeface="Calibri"/>
              </a:rPr>
              <a:t>ages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30–50.</a:t>
            </a:r>
            <a:endParaRPr sz="3200">
              <a:latin typeface="Calibri"/>
              <a:cs typeface="Calibri"/>
            </a:endParaRPr>
          </a:p>
          <a:p>
            <a:pPr marL="356870" marR="1181735" indent="-34480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870" algn="l"/>
              </a:tabLst>
            </a:pPr>
            <a:r>
              <a:rPr dirty="0" sz="3200">
                <a:latin typeface="Calibri"/>
                <a:cs typeface="Calibri"/>
              </a:rPr>
              <a:t>•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Useful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for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targeted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promotions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and </a:t>
            </a:r>
            <a:r>
              <a:rPr dirty="0" sz="3200" spc="-10">
                <a:latin typeface="Calibri"/>
                <a:cs typeface="Calibri"/>
              </a:rPr>
              <a:t>personalized</a:t>
            </a:r>
            <a:r>
              <a:rPr dirty="0" sz="3200" spc="-16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offers.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7268" rIns="0" bIns="0" rtlCol="0" vert="horz">
            <a:spAutoFit/>
          </a:bodyPr>
          <a:lstStyle/>
          <a:p>
            <a:pPr marL="1152525">
              <a:lnSpc>
                <a:spcPct val="100000"/>
              </a:lnSpc>
              <a:spcBef>
                <a:spcPts val="90"/>
              </a:spcBef>
            </a:pPr>
            <a:r>
              <a:rPr dirty="0"/>
              <a:t>Overall</a:t>
            </a:r>
            <a:r>
              <a:rPr dirty="0" spc="-190"/>
              <a:t> </a:t>
            </a:r>
            <a:r>
              <a:rPr dirty="0"/>
              <a:t>Business</a:t>
            </a:r>
            <a:r>
              <a:rPr dirty="0" spc="-200"/>
              <a:t> </a:t>
            </a:r>
            <a:r>
              <a:rPr dirty="0" spc="-10"/>
              <a:t>Insights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56870" marR="1443355" indent="-34480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6870" algn="l"/>
              </a:tabLst>
            </a:pPr>
            <a:r>
              <a:rPr dirty="0"/>
              <a:t>•</a:t>
            </a:r>
            <a:r>
              <a:rPr dirty="0" spc="-75"/>
              <a:t> </a:t>
            </a:r>
            <a:r>
              <a:rPr dirty="0" spc="-10"/>
              <a:t>Customers</a:t>
            </a:r>
            <a:r>
              <a:rPr dirty="0" spc="-55"/>
              <a:t> </a:t>
            </a:r>
            <a:r>
              <a:rPr dirty="0"/>
              <a:t>aged</a:t>
            </a:r>
            <a:r>
              <a:rPr dirty="0" spc="-70"/>
              <a:t> </a:t>
            </a:r>
            <a:r>
              <a:rPr dirty="0"/>
              <a:t>30–55</a:t>
            </a:r>
            <a:r>
              <a:rPr dirty="0" spc="-20"/>
              <a:t> </a:t>
            </a:r>
            <a:r>
              <a:rPr dirty="0"/>
              <a:t>are</a:t>
            </a:r>
            <a:r>
              <a:rPr dirty="0" spc="-75"/>
              <a:t> </a:t>
            </a:r>
            <a:r>
              <a:rPr dirty="0"/>
              <a:t>the</a:t>
            </a:r>
            <a:r>
              <a:rPr dirty="0" spc="-85"/>
              <a:t> </a:t>
            </a:r>
            <a:r>
              <a:rPr dirty="0" spc="-20"/>
              <a:t>most </a:t>
            </a:r>
            <a:r>
              <a:rPr dirty="0"/>
              <a:t>valuable</a:t>
            </a:r>
            <a:r>
              <a:rPr dirty="0" spc="-110"/>
              <a:t> </a:t>
            </a:r>
            <a:r>
              <a:rPr dirty="0" spc="-10"/>
              <a:t>segment.</a:t>
            </a: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870" algn="l"/>
              </a:tabLst>
            </a:pPr>
            <a:r>
              <a:rPr dirty="0"/>
              <a:t>•</a:t>
            </a:r>
            <a:r>
              <a:rPr dirty="0" spc="-75"/>
              <a:t> </a:t>
            </a:r>
            <a:r>
              <a:rPr dirty="0"/>
              <a:t>Seasonal</a:t>
            </a:r>
            <a:r>
              <a:rPr dirty="0" spc="-50"/>
              <a:t> </a:t>
            </a:r>
            <a:r>
              <a:rPr dirty="0"/>
              <a:t>demand</a:t>
            </a:r>
            <a:r>
              <a:rPr dirty="0" spc="-45"/>
              <a:t> </a:t>
            </a:r>
            <a:r>
              <a:rPr dirty="0"/>
              <a:t>peaks</a:t>
            </a:r>
            <a:r>
              <a:rPr dirty="0" spc="-65"/>
              <a:t> </a:t>
            </a:r>
            <a:r>
              <a:rPr dirty="0"/>
              <a:t>in</a:t>
            </a:r>
            <a:r>
              <a:rPr dirty="0" spc="-65"/>
              <a:t> </a:t>
            </a:r>
            <a:r>
              <a:rPr dirty="0"/>
              <a:t>Fall</a:t>
            </a:r>
            <a:r>
              <a:rPr dirty="0" spc="-75"/>
              <a:t> </a:t>
            </a:r>
            <a:r>
              <a:rPr dirty="0"/>
              <a:t>and</a:t>
            </a:r>
            <a:r>
              <a:rPr dirty="0" spc="-70"/>
              <a:t> </a:t>
            </a:r>
            <a:r>
              <a:rPr dirty="0" spc="-10"/>
              <a:t>Winter.</a:t>
            </a:r>
          </a:p>
          <a:p>
            <a:pPr marL="356870" marR="5080" indent="-34480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870" algn="l"/>
              </a:tabLst>
            </a:pPr>
            <a:r>
              <a:rPr dirty="0"/>
              <a:t>•</a:t>
            </a:r>
            <a:r>
              <a:rPr dirty="0" spc="-110"/>
              <a:t> </a:t>
            </a:r>
            <a:r>
              <a:rPr dirty="0" spc="-10"/>
              <a:t>Geographic</a:t>
            </a:r>
            <a:r>
              <a:rPr dirty="0" spc="-85"/>
              <a:t> </a:t>
            </a:r>
            <a:r>
              <a:rPr dirty="0" spc="-10"/>
              <a:t>concentration</a:t>
            </a:r>
            <a:r>
              <a:rPr dirty="0" spc="-80"/>
              <a:t> </a:t>
            </a:r>
            <a:r>
              <a:rPr dirty="0"/>
              <a:t>suggests</a:t>
            </a:r>
            <a:r>
              <a:rPr dirty="0" spc="-100"/>
              <a:t> </a:t>
            </a:r>
            <a:r>
              <a:rPr dirty="0"/>
              <a:t>scope</a:t>
            </a:r>
            <a:r>
              <a:rPr dirty="0" spc="-85"/>
              <a:t> </a:t>
            </a:r>
            <a:r>
              <a:rPr dirty="0" spc="-25"/>
              <a:t>for </a:t>
            </a:r>
            <a:r>
              <a:rPr dirty="0"/>
              <a:t>regional</a:t>
            </a:r>
            <a:r>
              <a:rPr dirty="0" spc="-120"/>
              <a:t> </a:t>
            </a:r>
            <a:r>
              <a:rPr dirty="0" spc="-10"/>
              <a:t>expansion.</a:t>
            </a:r>
          </a:p>
          <a:p>
            <a:pPr marL="356870" marR="134620" indent="-34480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870" algn="l"/>
              </a:tabLst>
            </a:pPr>
            <a:r>
              <a:rPr dirty="0"/>
              <a:t>•</a:t>
            </a:r>
            <a:r>
              <a:rPr dirty="0" spc="-80"/>
              <a:t> </a:t>
            </a:r>
            <a:r>
              <a:rPr dirty="0" spc="-25"/>
              <a:t>Category-</a:t>
            </a:r>
            <a:r>
              <a:rPr dirty="0"/>
              <a:t>level</a:t>
            </a:r>
            <a:r>
              <a:rPr dirty="0" spc="-85"/>
              <a:t> </a:t>
            </a:r>
            <a:r>
              <a:rPr dirty="0"/>
              <a:t>insights</a:t>
            </a:r>
            <a:r>
              <a:rPr dirty="0" spc="-90"/>
              <a:t> </a:t>
            </a:r>
            <a:r>
              <a:rPr dirty="0"/>
              <a:t>help</a:t>
            </a:r>
            <a:r>
              <a:rPr dirty="0" spc="-70"/>
              <a:t> </a:t>
            </a:r>
            <a:r>
              <a:rPr dirty="0"/>
              <a:t>optimize</a:t>
            </a:r>
            <a:r>
              <a:rPr dirty="0" spc="-75"/>
              <a:t> </a:t>
            </a:r>
            <a:r>
              <a:rPr dirty="0" spc="-10"/>
              <a:t>pricing </a:t>
            </a:r>
            <a:r>
              <a:rPr dirty="0"/>
              <a:t>and</a:t>
            </a:r>
            <a:r>
              <a:rPr dirty="0" spc="-80"/>
              <a:t> </a:t>
            </a:r>
            <a:r>
              <a:rPr dirty="0"/>
              <a:t>discount</a:t>
            </a:r>
            <a:r>
              <a:rPr dirty="0" spc="-80"/>
              <a:t> </a:t>
            </a:r>
            <a:r>
              <a:rPr dirty="0" spc="-10"/>
              <a:t>strategies.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2026-06-21T09:55:37Z</dcterms:created>
  <dcterms:modified xsi:type="dcterms:W3CDTF">2026-06-21T09:55:37Z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2026-06-21T00:00:00Z</vt:filetime>
  </property>
  <property fmtid="{D5CDD505-2E9C-101B-9397-08002B2CF9AE}" pid="5" name="Producer">
    <vt:lpwstr>3-Heights(TM) PDF Security Shell 4.8.25.2 (http://www.pdf-tools.com)</vt:lpwstr>
  </property>
</Properties>
</file>